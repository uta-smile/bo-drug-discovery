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6629400" cy="3419856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6629400" cy="341985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3" name="Connector 2"/>
          <p:cNvCxnSpPr/>
          <p:nvPr/>
        </p:nvCxnSpPr>
        <p:spPr>
          <a:xfrm>
            <a:off x="3410712" y="164592"/>
            <a:ext cx="0" cy="2971800"/>
          </a:xfrm>
          <a:prstGeom prst="line">
            <a:avLst/>
          </a:prstGeom>
          <a:ln w="13970">
            <a:solidFill>
              <a:srgbClr val="DAE2E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Oval 3"/>
          <p:cNvSpPr/>
          <p:nvPr/>
        </p:nvSpPr>
        <p:spPr>
          <a:xfrm>
            <a:off x="164592" y="164592"/>
            <a:ext cx="246888" cy="246888"/>
          </a:xfrm>
          <a:prstGeom prst="ellipse">
            <a:avLst/>
          </a:prstGeom>
          <a:solidFill>
            <a:srgbClr val="188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164592" y="164592"/>
            <a:ext cx="24688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84632" y="155448"/>
            <a:ext cx="2788920" cy="29260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3348"/>
                </a:solidFill>
                <a:latin typeface="Arial"/>
              </a:rPr>
              <a:t>Pooling gain reverses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521207"/>
            <a:ext cx="2953512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73"/>
                </a:solidFill>
                <a:latin typeface="Arial"/>
              </a:rPr>
              <a:t>Recall@10 gain vs STL (pp)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709928" y="969264"/>
            <a:ext cx="0" cy="1591056"/>
          </a:xfrm>
          <a:prstGeom prst="line">
            <a:avLst/>
          </a:prstGeom>
          <a:ln w="15240">
            <a:solidFill>
              <a:srgbClr val="7689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301752" y="2560320"/>
            <a:ext cx="2852928" cy="0"/>
          </a:xfrm>
          <a:prstGeom prst="line">
            <a:avLst/>
          </a:prstGeom>
          <a:ln w="8890">
            <a:solidFill>
              <a:srgbClr val="CAD6D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" name="Rectangle 9"/>
          <p:cNvSpPr/>
          <p:nvPr/>
        </p:nvSpPr>
        <p:spPr>
          <a:xfrm>
            <a:off x="1709928" y="1170432"/>
            <a:ext cx="1176211" cy="310896"/>
          </a:xfrm>
          <a:prstGeom prst="rect">
            <a:avLst/>
          </a:prstGeom>
          <a:solidFill>
            <a:srgbClr val="188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Rectangle 10"/>
          <p:cNvSpPr/>
          <p:nvPr/>
        </p:nvSpPr>
        <p:spPr>
          <a:xfrm>
            <a:off x="529620" y="1956816"/>
            <a:ext cx="1180307" cy="310896"/>
          </a:xfrm>
          <a:prstGeom prst="rect">
            <a:avLst/>
          </a:prstGeom>
          <a:solidFill>
            <a:srgbClr val="C85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20040" y="932688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348"/>
                </a:solidFill>
                <a:latin typeface="Arial"/>
              </a:rPr>
              <a:t>Withheld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20040" y="1719072"/>
            <a:ext cx="9144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348"/>
                </a:solidFill>
                <a:latin typeface="Arial"/>
              </a:rPr>
              <a:t>Uniform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773936" y="1490472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188175"/>
                </a:solidFill>
                <a:latin typeface="Arial"/>
              </a:rPr>
              <a:t>+22.97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0476" y="2286000"/>
            <a:ext cx="100584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C85A53"/>
                </a:solidFill>
                <a:latin typeface="Arial"/>
              </a:rPr>
              <a:t>-23.05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618488" y="2578608"/>
            <a:ext cx="201168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73"/>
                </a:solidFill>
                <a:latin typeface="Arial"/>
              </a:rPr>
              <a:t>0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530352" y="2852928"/>
            <a:ext cx="2395728" cy="347472"/>
          </a:xfrm>
          <a:prstGeom prst="roundRect">
            <a:avLst/>
          </a:prstGeom>
          <a:solidFill>
            <a:srgbClr val="F4F7F8"/>
          </a:solidFill>
          <a:ln w="9525">
            <a:solidFill>
              <a:srgbClr val="E4EB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85216" y="2916936"/>
            <a:ext cx="2286000" cy="18288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203348"/>
                </a:solidFill>
                <a:latin typeface="Arial"/>
              </a:rPr>
              <a:t>46.02-point reversal</a:t>
            </a:r>
          </a:p>
        </p:txBody>
      </p:sp>
      <p:sp>
        <p:nvSpPr>
          <p:cNvPr id="19" name="Oval 18"/>
          <p:cNvSpPr/>
          <p:nvPr/>
        </p:nvSpPr>
        <p:spPr>
          <a:xfrm>
            <a:off x="3584448" y="164592"/>
            <a:ext cx="246888" cy="246888"/>
          </a:xfrm>
          <a:prstGeom prst="ellipse">
            <a:avLst/>
          </a:prstGeom>
          <a:solidFill>
            <a:srgbClr val="188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3584448" y="164592"/>
            <a:ext cx="246888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Arial"/>
              </a:rPr>
              <a:t>b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904487" y="155448"/>
            <a:ext cx="2496312" cy="30175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400" b="1">
                <a:solidFill>
                  <a:srgbClr val="203348"/>
                </a:solidFill>
                <a:latin typeface="Arial"/>
              </a:rPr>
              <a:t>History-selection frequency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02736" y="521207"/>
            <a:ext cx="2825496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73"/>
                </a:solidFill>
                <a:latin typeface="Arial"/>
              </a:rPr>
              <a:t>History selection / library coverage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611880" y="1152144"/>
            <a:ext cx="93268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348"/>
                </a:solidFill>
                <a:latin typeface="Arial"/>
              </a:rPr>
              <a:t>STL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617720" y="1133856"/>
            <a:ext cx="1353312" cy="228600"/>
          </a:xfrm>
          <a:prstGeom prst="rect">
            <a:avLst/>
          </a:prstGeom>
          <a:solidFill>
            <a:srgbClr val="E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4617720" y="1133856"/>
            <a:ext cx="1315419" cy="228600"/>
          </a:xfrm>
          <a:prstGeom prst="rect">
            <a:avLst/>
          </a:prstGeom>
          <a:solidFill>
            <a:srgbClr val="20334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16752" y="1124712"/>
            <a:ext cx="530352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203348"/>
                </a:solidFill>
                <a:latin typeface="Arial"/>
              </a:rPr>
              <a:t>0.972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611880" y="1746504"/>
            <a:ext cx="93268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348"/>
                </a:solidFill>
                <a:latin typeface="Arial"/>
              </a:rPr>
              <a:t>MT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617720" y="1728216"/>
            <a:ext cx="1353312" cy="228600"/>
          </a:xfrm>
          <a:prstGeom prst="rect">
            <a:avLst/>
          </a:prstGeom>
          <a:solidFill>
            <a:srgbClr val="E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Rectangle 28"/>
          <p:cNvSpPr/>
          <p:nvPr/>
        </p:nvSpPr>
        <p:spPr>
          <a:xfrm>
            <a:off x="4617720" y="1728216"/>
            <a:ext cx="733495" cy="228600"/>
          </a:xfrm>
          <a:prstGeom prst="rect">
            <a:avLst/>
          </a:prstGeom>
          <a:solidFill>
            <a:srgbClr val="18817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6016752" y="1719072"/>
            <a:ext cx="530352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188175"/>
                </a:solidFill>
                <a:latin typeface="Arial"/>
              </a:rPr>
              <a:t>0.542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611880" y="2340864"/>
            <a:ext cx="932688" cy="2377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1">
                <a:solidFill>
                  <a:srgbClr val="203348"/>
                </a:solidFill>
                <a:latin typeface="Arial"/>
              </a:rPr>
              <a:t>Pooled</a:t>
            </a:r>
          </a:p>
        </p:txBody>
      </p:sp>
      <p:sp>
        <p:nvSpPr>
          <p:cNvPr id="32" name="Rectangle 31"/>
          <p:cNvSpPr/>
          <p:nvPr/>
        </p:nvSpPr>
        <p:spPr>
          <a:xfrm>
            <a:off x="4617720" y="2322576"/>
            <a:ext cx="1353312" cy="228600"/>
          </a:xfrm>
          <a:prstGeom prst="rect">
            <a:avLst/>
          </a:prstGeom>
          <a:solidFill>
            <a:srgbClr val="EBEF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Rectangle 32"/>
          <p:cNvSpPr/>
          <p:nvPr/>
        </p:nvSpPr>
        <p:spPr>
          <a:xfrm>
            <a:off x="4617720" y="2322576"/>
            <a:ext cx="389753" cy="228600"/>
          </a:xfrm>
          <a:prstGeom prst="rect">
            <a:avLst/>
          </a:prstGeom>
          <a:solidFill>
            <a:srgbClr val="C85A5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6016752" y="2313432"/>
            <a:ext cx="530352" cy="2468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1">
                <a:solidFill>
                  <a:srgbClr val="C85A53"/>
                </a:solidFill>
                <a:latin typeface="Arial"/>
              </a:rPr>
              <a:t>0.288</a:t>
            </a:r>
          </a:p>
        </p:txBody>
      </p:sp>
      <p:cxnSp>
        <p:nvCxnSpPr>
          <p:cNvPr id="35" name="Connector 34"/>
          <p:cNvCxnSpPr/>
          <p:nvPr/>
        </p:nvCxnSpPr>
        <p:spPr>
          <a:xfrm>
            <a:off x="4617720" y="969264"/>
            <a:ext cx="0" cy="1819656"/>
          </a:xfrm>
          <a:prstGeom prst="line">
            <a:avLst/>
          </a:prstGeom>
          <a:ln w="10160">
            <a:solidFill>
              <a:srgbClr val="76899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Connector 35"/>
          <p:cNvCxnSpPr/>
          <p:nvPr/>
        </p:nvCxnSpPr>
        <p:spPr>
          <a:xfrm>
            <a:off x="5971031" y="969264"/>
            <a:ext cx="0" cy="1819656"/>
          </a:xfrm>
          <a:prstGeom prst="line">
            <a:avLst/>
          </a:prstGeom>
          <a:ln w="10160">
            <a:solidFill>
              <a:srgbClr val="D8E2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/>
          <p:cNvSpPr txBox="1"/>
          <p:nvPr/>
        </p:nvSpPr>
        <p:spPr>
          <a:xfrm>
            <a:off x="4572000" y="2825496"/>
            <a:ext cx="27432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73"/>
                </a:solidFill>
                <a:latin typeface="Arial"/>
              </a:rPr>
              <a:t>0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742431" y="2825496"/>
            <a:ext cx="365760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r"/>
            <a:r>
              <a:rPr sz="1200" b="0">
                <a:solidFill>
                  <a:srgbClr val="556673"/>
                </a:solidFill>
                <a:latin typeface="Arial"/>
              </a:rPr>
              <a:t>1.0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3694176" y="3127248"/>
            <a:ext cx="2852928" cy="21031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/>
            <a:r>
              <a:rPr sz="1200" b="0">
                <a:solidFill>
                  <a:srgbClr val="556673"/>
                </a:solidFill>
                <a:latin typeface="Arial"/>
              </a:rPr>
              <a:t>Uniform histories; separate analysis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